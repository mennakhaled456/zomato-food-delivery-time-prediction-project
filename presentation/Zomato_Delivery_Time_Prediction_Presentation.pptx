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1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2F3C7E"/>
                </a:solidFill>
                <a:latin typeface="Arial"/>
              </a:defRPr>
            </a:pPr>
            <a:r>
              <a:rPr sz="1300" b="0" i="0" u="none" strike="noStrike">
                <a:solidFill>
                  <a:srgbClr val="2F3C7E"/>
                </a:solidFill>
                <a:latin typeface="Arial"/>
              </a:rPr>
              <a:t>R² — variance explained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R² (higher is better)</c:v>
                </c:pt>
              </c:strCache>
            </c:strRef>
          </c:tx>
          <c:spPr>
            <a:solidFill>
              <a:srgbClr val="2F3C7E"/>
            </a:solidFill>
            <a:effectLst/>
          </c:spPr>
          <c:invertIfNegative val="0"/>
          <c:dLbls>
            <c:numFmt formatCode="0.00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2F3C7E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F96167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E85D5D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Linear
Regression</c:v>
                  </c:pt>
                  <c:pt idx="1">
                    <c:v>Decision
Tree</c:v>
                  </c:pt>
                  <c:pt idx="2">
                    <c:v>Random
Forest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0.583</c:v>
                </c:pt>
                <c:pt idx="1">
                  <c:v>0.782</c:v>
                </c:pt>
                <c:pt idx="2">
                  <c:v>0.807</c:v>
                </c:pt>
              </c:numCache>
            </c:numRef>
          </c:val>
        </c:ser>
        <c:dLbls>
          <c:numFmt formatCode="0.000" sourceLinked="0"/>
          <c:txPr>
            <a:bodyPr/>
            <a:lstStyle/>
            <a:p>
              <a:pPr>
                <a:defRPr b="0" i="0" strike="noStrike" sz="1200" u="none">
                  <a:solidFill>
                    <a:srgbClr val="FFFFFF"/>
                  </a:solidFill>
                  <a:latin typeface="Arial"/>
                </a:defRPr>
              </a:pPr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44405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4405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hyperlink" Target="https://zomato-food-delivery-time-prediction-project-hu6scvwmeu88brhbc.streamlit.app/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15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66960" y="-1463040"/>
            <a:ext cx="4572000" cy="4572000"/>
          </a:xfrm>
          <a:prstGeom prst="ellipse">
            <a:avLst/>
          </a:prstGeom>
          <a:solidFill>
            <a:srgbClr val="F96167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645920" y="4754880"/>
            <a:ext cx="3840480" cy="3840480"/>
          </a:xfrm>
          <a:prstGeom prst="ellipse">
            <a:avLst/>
          </a:prstGeom>
          <a:solidFill>
            <a:srgbClr val="2F3C7E">
              <a:alpha val="6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87452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NTI GRADUATION PROJECT  ·  ADVANCED DATA ANALYSIS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77240" y="2286000"/>
            <a:ext cx="1051560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5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Zomato Food Delivery</a:t>
            </a:r>
            <a:endParaRPr lang="en-US" sz="4600" dirty="0"/>
          </a:p>
          <a:p>
            <a:pPr indent="0" marL="0">
              <a:lnSpc>
                <a:spcPts val="5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Time Prediction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822960" y="4160520"/>
            <a:ext cx="8778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FC9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Predicting delivery time from order, weather, traffic, and location data — cleaning through deployment.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822960" y="4892040"/>
            <a:ext cx="2011680" cy="0"/>
          </a:xfrm>
          <a:prstGeom prst="line">
            <a:avLst/>
          </a:prstGeom>
          <a:noFill/>
          <a:ln w="31750">
            <a:solidFill>
              <a:srgbClr val="F9616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50292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9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of 5  ·  Regression Track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Five people, one pipeline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3520440" cy="2103120"/>
          </a:xfrm>
          <a:prstGeom prst="roundRect">
            <a:avLst>
              <a:gd name="adj" fmla="val 5217"/>
            </a:avLst>
          </a:prstGeom>
          <a:solidFill>
            <a:srgbClr val="F7F5FA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2221992"/>
            <a:ext cx="502920" cy="50292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222199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MK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22960" y="283464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Menna Khaled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822960" y="3127248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LEAD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822960" y="3429000"/>
            <a:ext cx="3017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444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engineering, Random Forest (main model), Streamlit app, GitHub repo, coordination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325112" y="1965960"/>
            <a:ext cx="3520440" cy="2103120"/>
          </a:xfrm>
          <a:prstGeom prst="roundRect">
            <a:avLst>
              <a:gd name="adj" fmla="val 5217"/>
            </a:avLst>
          </a:prstGeom>
          <a:solidFill>
            <a:srgbClr val="F7F5FA"/>
          </a:solidFill>
          <a:ln/>
        </p:spPr>
      </p:sp>
      <p:sp>
        <p:nvSpPr>
          <p:cNvPr id="11" name="Shape 9"/>
          <p:cNvSpPr/>
          <p:nvPr/>
        </p:nvSpPr>
        <p:spPr>
          <a:xfrm>
            <a:off x="4599432" y="2221992"/>
            <a:ext cx="502920" cy="502920"/>
          </a:xfrm>
          <a:prstGeom prst="ellipse">
            <a:avLst/>
          </a:prstGeom>
          <a:solidFill>
            <a:srgbClr val="2F3C7E"/>
          </a:solidFill>
          <a:ln/>
        </p:spPr>
      </p:sp>
      <p:sp>
        <p:nvSpPr>
          <p:cNvPr id="12" name="Text 10"/>
          <p:cNvSpPr/>
          <p:nvPr/>
        </p:nvSpPr>
        <p:spPr>
          <a:xfrm>
            <a:off x="4599432" y="222199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599432" y="283464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Dareen Alaa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4599432" y="3127248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&amp; MODELING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599432" y="3429000"/>
            <a:ext cx="3017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444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cleaning lead, Decision Tree Regressor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8101584" y="1965960"/>
            <a:ext cx="3520440" cy="2103120"/>
          </a:xfrm>
          <a:prstGeom prst="roundRect">
            <a:avLst>
              <a:gd name="adj" fmla="val 5217"/>
            </a:avLst>
          </a:prstGeom>
          <a:solidFill>
            <a:srgbClr val="F7F5FA"/>
          </a:solidFill>
          <a:ln/>
        </p:spPr>
      </p:sp>
      <p:sp>
        <p:nvSpPr>
          <p:cNvPr id="17" name="Shape 15"/>
          <p:cNvSpPr/>
          <p:nvPr/>
        </p:nvSpPr>
        <p:spPr>
          <a:xfrm>
            <a:off x="8375904" y="2221992"/>
            <a:ext cx="502920" cy="502920"/>
          </a:xfrm>
          <a:prstGeom prst="ellipse">
            <a:avLst/>
          </a:prstGeom>
          <a:solidFill>
            <a:srgbClr val="2F3C7E"/>
          </a:solidFill>
          <a:ln/>
        </p:spPr>
      </p:sp>
      <p:sp>
        <p:nvSpPr>
          <p:cNvPr id="18" name="Text 16"/>
          <p:cNvSpPr/>
          <p:nvPr/>
        </p:nvSpPr>
        <p:spPr>
          <a:xfrm>
            <a:off x="8375904" y="222199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AM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8375904" y="283464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Abdelrahman Mahmoud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8375904" y="3127248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 &amp; MODELING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8375904" y="3429000"/>
            <a:ext cx="3017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444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data analysis, Linear Regression baseline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48640" y="4297680"/>
            <a:ext cx="3520440" cy="2103120"/>
          </a:xfrm>
          <a:prstGeom prst="roundRect">
            <a:avLst>
              <a:gd name="adj" fmla="val 5217"/>
            </a:avLst>
          </a:prstGeom>
          <a:solidFill>
            <a:srgbClr val="F7F5FA"/>
          </a:solidFill>
          <a:ln/>
        </p:spPr>
      </p:sp>
      <p:sp>
        <p:nvSpPr>
          <p:cNvPr id="23" name="Shape 21"/>
          <p:cNvSpPr/>
          <p:nvPr/>
        </p:nvSpPr>
        <p:spPr>
          <a:xfrm>
            <a:off x="822960" y="4553712"/>
            <a:ext cx="502920" cy="502920"/>
          </a:xfrm>
          <a:prstGeom prst="ellipse">
            <a:avLst/>
          </a:prstGeom>
          <a:solidFill>
            <a:srgbClr val="2F3C7E"/>
          </a:solidFill>
          <a:ln/>
        </p:spPr>
      </p:sp>
      <p:sp>
        <p:nvSpPr>
          <p:cNvPr id="24" name="Text 22"/>
          <p:cNvSpPr/>
          <p:nvPr/>
        </p:nvSpPr>
        <p:spPr>
          <a:xfrm>
            <a:off x="822960" y="455371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MR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822960" y="516636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Moureen Ramy Kelada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822960" y="5458968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822960" y="5760720"/>
            <a:ext cx="3017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444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4 dashboard pages, with Salma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325112" y="4297680"/>
            <a:ext cx="3520440" cy="2103120"/>
          </a:xfrm>
          <a:prstGeom prst="roundRect">
            <a:avLst>
              <a:gd name="adj" fmla="val 5217"/>
            </a:avLst>
          </a:prstGeom>
          <a:solidFill>
            <a:srgbClr val="F7F5FA"/>
          </a:solidFill>
          <a:ln/>
        </p:spPr>
      </p:sp>
      <p:sp>
        <p:nvSpPr>
          <p:cNvPr id="29" name="Shape 27"/>
          <p:cNvSpPr/>
          <p:nvPr/>
        </p:nvSpPr>
        <p:spPr>
          <a:xfrm>
            <a:off x="4599432" y="4553712"/>
            <a:ext cx="502920" cy="502920"/>
          </a:xfrm>
          <a:prstGeom prst="ellipse">
            <a:avLst/>
          </a:prstGeom>
          <a:solidFill>
            <a:srgbClr val="2F3C7E"/>
          </a:solidFill>
          <a:ln/>
        </p:spPr>
      </p:sp>
      <p:sp>
        <p:nvSpPr>
          <p:cNvPr id="30" name="Text 28"/>
          <p:cNvSpPr/>
          <p:nvPr/>
        </p:nvSpPr>
        <p:spPr>
          <a:xfrm>
            <a:off x="4599432" y="455371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4599432" y="516636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Salma Tarek</a:t>
            </a:r>
            <a:endParaRPr lang="en-US" sz="1350" dirty="0"/>
          </a:p>
        </p:txBody>
      </p:sp>
      <p:sp>
        <p:nvSpPr>
          <p:cNvPr id="32" name="Text 30"/>
          <p:cNvSpPr/>
          <p:nvPr/>
        </p:nvSpPr>
        <p:spPr>
          <a:xfrm>
            <a:off x="4599432" y="5458968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4599432" y="5760720"/>
            <a:ext cx="3017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444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DAX measures &amp; data model relationships, with Moureen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·  PROBLEM STATEMENT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07899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400"/>
              </a:lnSpc>
              <a:buNone/>
            </a:pPr>
            <a:r>
              <a:rPr lang="en-US" sz="30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drives food delivery time —</a:t>
            </a:r>
            <a:endParaRPr lang="en-US" sz="3000" dirty="0"/>
          </a:p>
          <a:p>
            <a:pPr indent="0" marL="0">
              <a:lnSpc>
                <a:spcPts val="3400"/>
              </a:lnSpc>
              <a:buNone/>
            </a:pPr>
            <a:r>
              <a:rPr lang="en-US" sz="30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and can we predict it?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331720"/>
            <a:ext cx="3520440" cy="3291840"/>
          </a:xfrm>
          <a:prstGeom prst="roundRect">
            <a:avLst>
              <a:gd name="adj" fmla="val 3333"/>
            </a:avLst>
          </a:prstGeom>
          <a:solidFill>
            <a:srgbClr val="F7F5FA"/>
          </a:solidFill>
          <a:ln/>
          <a:effectLst>
            <a:outerShdw sx="100000" sy="100000" kx="0" ky="0" algn="bl" rotWithShape="0" blurRad="101600" dist="38100" dir="5400000">
              <a:srgbClr val="3A2E55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2697480"/>
            <a:ext cx="548640" cy="54864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26974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868680" y="3429000"/>
            <a:ext cx="2880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Business question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68680" y="3977640"/>
            <a:ext cx="28803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444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factors drive delivery time, and can we estimate it accurately for a new order before it happens?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325112" y="2331720"/>
            <a:ext cx="3520440" cy="3291840"/>
          </a:xfrm>
          <a:prstGeom prst="roundRect">
            <a:avLst>
              <a:gd name="adj" fmla="val 3333"/>
            </a:avLst>
          </a:prstGeom>
          <a:solidFill>
            <a:srgbClr val="F7F5FA"/>
          </a:solidFill>
          <a:ln/>
          <a:effectLst>
            <a:outerShdw sx="100000" sy="100000" kx="0" ky="0" algn="bl" rotWithShape="0" blurRad="101600" dist="38100" dir="5400000">
              <a:srgbClr val="3A2E55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45152" y="2697480"/>
            <a:ext cx="548640" cy="54864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1" name="Text 9"/>
          <p:cNvSpPr/>
          <p:nvPr/>
        </p:nvSpPr>
        <p:spPr>
          <a:xfrm>
            <a:off x="4645152" y="26974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4645152" y="3429000"/>
            <a:ext cx="2880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it matters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645152" y="3977640"/>
            <a:ext cx="28803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444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Accurate ETAs improve customer trust and let delivery platforms flag at-risk orders early.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101584" y="2331720"/>
            <a:ext cx="3520440" cy="3291840"/>
          </a:xfrm>
          <a:prstGeom prst="roundRect">
            <a:avLst>
              <a:gd name="adj" fmla="val 3333"/>
            </a:avLst>
          </a:prstGeom>
          <a:solidFill>
            <a:srgbClr val="F7F5FA"/>
          </a:solidFill>
          <a:ln/>
          <a:effectLst>
            <a:outerShdw sx="100000" sy="100000" kx="0" ky="0" algn="bl" rotWithShape="0" blurRad="101600" dist="38100" dir="5400000">
              <a:srgbClr val="3A2E55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421624" y="2697480"/>
            <a:ext cx="548640" cy="54864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6" name="Text 14"/>
          <p:cNvSpPr/>
          <p:nvPr/>
        </p:nvSpPr>
        <p:spPr>
          <a:xfrm>
            <a:off x="8421624" y="26974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8421624" y="3429000"/>
            <a:ext cx="2880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Our approach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421624" y="3977640"/>
            <a:ext cx="28803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444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regression pipeline: clean → explore → engineer features → compare 3 models → deploy an interactive predictor.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·  DATA SOURCES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dataset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92024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9616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45,584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548640" y="269748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6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333756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9616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548640" y="411480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6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COLUMNS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475488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9616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548640" y="553212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6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MEMBERS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206240" y="1874520"/>
            <a:ext cx="7406640" cy="4114800"/>
          </a:xfrm>
          <a:prstGeom prst="roundRect">
            <a:avLst>
              <a:gd name="adj" fmla="val 2667"/>
            </a:avLst>
          </a:prstGeom>
          <a:solidFill>
            <a:srgbClr val="F7F5FA"/>
          </a:solidFill>
          <a:ln/>
        </p:spPr>
      </p:sp>
      <p:sp>
        <p:nvSpPr>
          <p:cNvPr id="11" name="Shape 9"/>
          <p:cNvSpPr/>
          <p:nvPr/>
        </p:nvSpPr>
        <p:spPr>
          <a:xfrm>
            <a:off x="4526280" y="2221992"/>
            <a:ext cx="109728" cy="109728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2" name="Text 10"/>
          <p:cNvSpPr/>
          <p:nvPr/>
        </p:nvSpPr>
        <p:spPr>
          <a:xfrm>
            <a:off x="4800600" y="214884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person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949440" y="2148840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44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Age, rating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26280" y="2862072"/>
            <a:ext cx="109728" cy="109728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5" name="Text 13"/>
          <p:cNvSpPr/>
          <p:nvPr/>
        </p:nvSpPr>
        <p:spPr>
          <a:xfrm>
            <a:off x="4800600" y="278892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949440" y="2788920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44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Restaurant &amp; drop-off latitude/longitude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26280" y="3502152"/>
            <a:ext cx="109728" cy="109728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8" name="Text 16"/>
          <p:cNvSpPr/>
          <p:nvPr/>
        </p:nvSpPr>
        <p:spPr>
          <a:xfrm>
            <a:off x="4800600" y="342900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Timing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949440" y="3429000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44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date, order time, pickup time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526280" y="4142232"/>
            <a:ext cx="109728" cy="109728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21" name="Text 19"/>
          <p:cNvSpPr/>
          <p:nvPr/>
        </p:nvSpPr>
        <p:spPr>
          <a:xfrm>
            <a:off x="4800600" y="406908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Conditions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949440" y="4069080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44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Weather, road traffic density, festival flag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526280" y="4782312"/>
            <a:ext cx="109728" cy="109728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24" name="Text 22"/>
          <p:cNvSpPr/>
          <p:nvPr/>
        </p:nvSpPr>
        <p:spPr>
          <a:xfrm>
            <a:off x="4800600" y="470916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details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949440" y="4709160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44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Vehicle type/condition, order type, multiple deliveries, city type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526280" y="5422392"/>
            <a:ext cx="109728" cy="109728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27" name="Text 25"/>
          <p:cNvSpPr/>
          <p:nvPr/>
        </p:nvSpPr>
        <p:spPr>
          <a:xfrm>
            <a:off x="4800600" y="534924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949440" y="5349240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44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Time_taken (min) — the value we predict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48640" y="626364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Zomato delivery dataset (Kaggle) — cited with access date in the written report appendix.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·  DATA ARCHITECTURE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raw data to prediction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286000"/>
            <a:ext cx="1965960" cy="1371600"/>
          </a:xfrm>
          <a:prstGeom prst="roundRect">
            <a:avLst>
              <a:gd name="adj" fmla="val 6667"/>
            </a:avLst>
          </a:prstGeom>
          <a:solidFill>
            <a:srgbClr val="2F3C7E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2286000"/>
            <a:ext cx="19659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CSV</a:t>
            </a:r>
            <a:endParaRPr lang="en-US" sz="1300" dirty="0"/>
          </a:p>
          <a:p>
            <a:pPr algn="ctr" indent="0" marL="0">
              <a:lnSpc>
                <a:spcPts val="16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(45,584 rows)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532888" y="2852928"/>
            <a:ext cx="283464" cy="237744"/>
          </a:xfrm>
          <a:prstGeom prst="rightArrow">
            <a:avLst/>
          </a:prstGeom>
          <a:solidFill>
            <a:srgbClr val="F9E795"/>
          </a:solidFill>
          <a:ln/>
        </p:spPr>
      </p:sp>
      <p:sp>
        <p:nvSpPr>
          <p:cNvPr id="7" name="Shape 5"/>
          <p:cNvSpPr/>
          <p:nvPr/>
        </p:nvSpPr>
        <p:spPr>
          <a:xfrm>
            <a:off x="2834640" y="2286000"/>
            <a:ext cx="1965960" cy="1371600"/>
          </a:xfrm>
          <a:prstGeom prst="roundRect">
            <a:avLst>
              <a:gd name="adj" fmla="val 6667"/>
            </a:avLst>
          </a:prstGeom>
          <a:solidFill>
            <a:srgbClr val="2F3C7E"/>
          </a:solidFill>
          <a:ln/>
        </p:spPr>
      </p:sp>
      <p:sp>
        <p:nvSpPr>
          <p:cNvPr id="8" name="Text 6"/>
          <p:cNvSpPr/>
          <p:nvPr/>
        </p:nvSpPr>
        <p:spPr>
          <a:xfrm>
            <a:off x="2834640" y="2286000"/>
            <a:ext cx="19659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Cleaning</a:t>
            </a:r>
            <a:endParaRPr lang="en-US" sz="1300" dirty="0"/>
          </a:p>
          <a:p>
            <a:pPr algn="ctr" indent="0" marL="0">
              <a:lnSpc>
                <a:spcPts val="16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validation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818888" y="2852928"/>
            <a:ext cx="283464" cy="237744"/>
          </a:xfrm>
          <a:prstGeom prst="rightArrow">
            <a:avLst/>
          </a:prstGeom>
          <a:solidFill>
            <a:srgbClr val="F9E795"/>
          </a:solidFill>
          <a:ln/>
        </p:spPr>
      </p:sp>
      <p:sp>
        <p:nvSpPr>
          <p:cNvPr id="10" name="Shape 8"/>
          <p:cNvSpPr/>
          <p:nvPr/>
        </p:nvSpPr>
        <p:spPr>
          <a:xfrm>
            <a:off x="5120640" y="2286000"/>
            <a:ext cx="1965960" cy="1371600"/>
          </a:xfrm>
          <a:prstGeom prst="roundRect">
            <a:avLst>
              <a:gd name="adj" fmla="val 6667"/>
            </a:avLst>
          </a:prstGeom>
          <a:solidFill>
            <a:srgbClr val="2F3C7E"/>
          </a:solidFill>
          <a:ln/>
        </p:spPr>
      </p:sp>
      <p:sp>
        <p:nvSpPr>
          <p:cNvPr id="11" name="Text 9"/>
          <p:cNvSpPr/>
          <p:nvPr/>
        </p:nvSpPr>
        <p:spPr>
          <a:xfrm>
            <a:off x="5120640" y="2286000"/>
            <a:ext cx="19659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</a:t>
            </a:r>
            <a:endParaRPr lang="en-US" sz="1300" dirty="0"/>
          </a:p>
          <a:p>
            <a:pPr algn="ctr" indent="0" marL="0">
              <a:lnSpc>
                <a:spcPts val="16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104888" y="2852928"/>
            <a:ext cx="283464" cy="237744"/>
          </a:xfrm>
          <a:prstGeom prst="rightArrow">
            <a:avLst/>
          </a:prstGeom>
          <a:solidFill>
            <a:srgbClr val="F9E795"/>
          </a:solidFill>
          <a:ln/>
        </p:spPr>
      </p:sp>
      <p:sp>
        <p:nvSpPr>
          <p:cNvPr id="13" name="Shape 11"/>
          <p:cNvSpPr/>
          <p:nvPr/>
        </p:nvSpPr>
        <p:spPr>
          <a:xfrm>
            <a:off x="7406640" y="2286000"/>
            <a:ext cx="1965960" cy="1371600"/>
          </a:xfrm>
          <a:prstGeom prst="roundRect">
            <a:avLst>
              <a:gd name="adj" fmla="val 6667"/>
            </a:avLst>
          </a:prstGeom>
          <a:solidFill>
            <a:srgbClr val="2F3C7E"/>
          </a:solidFill>
          <a:ln/>
        </p:spPr>
      </p:sp>
      <p:sp>
        <p:nvSpPr>
          <p:cNvPr id="14" name="Text 12"/>
          <p:cNvSpPr/>
          <p:nvPr/>
        </p:nvSpPr>
        <p:spPr>
          <a:xfrm>
            <a:off x="7406640" y="2286000"/>
            <a:ext cx="19659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300" dirty="0"/>
          </a:p>
          <a:p>
            <a:pPr algn="ctr" indent="0" marL="0">
              <a:lnSpc>
                <a:spcPts val="16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9390888" y="2852928"/>
            <a:ext cx="283464" cy="237744"/>
          </a:xfrm>
          <a:prstGeom prst="rightArrow">
            <a:avLst/>
          </a:prstGeom>
          <a:solidFill>
            <a:srgbClr val="F9E795"/>
          </a:solidFill>
          <a:ln/>
        </p:spPr>
      </p:sp>
      <p:sp>
        <p:nvSpPr>
          <p:cNvPr id="16" name="Shape 14"/>
          <p:cNvSpPr/>
          <p:nvPr/>
        </p:nvSpPr>
        <p:spPr>
          <a:xfrm>
            <a:off x="9692640" y="2286000"/>
            <a:ext cx="1965960" cy="1371600"/>
          </a:xfrm>
          <a:prstGeom prst="roundRect">
            <a:avLst>
              <a:gd name="adj" fmla="val 6667"/>
            </a:avLst>
          </a:prstGeom>
          <a:solidFill>
            <a:srgbClr val="F96167"/>
          </a:solidFill>
          <a:ln/>
        </p:spPr>
      </p:sp>
      <p:sp>
        <p:nvSpPr>
          <p:cNvPr id="17" name="Text 15"/>
          <p:cNvSpPr/>
          <p:nvPr/>
        </p:nvSpPr>
        <p:spPr>
          <a:xfrm>
            <a:off x="9692640" y="2286000"/>
            <a:ext cx="19659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</a:t>
            </a:r>
            <a:endParaRPr lang="en-US" sz="1300" dirty="0"/>
          </a:p>
          <a:p>
            <a:pPr algn="ctr" indent="0" marL="0">
              <a:lnSpc>
                <a:spcPts val="16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48640" y="402336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Pipeline design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548640" y="4535424"/>
            <a:ext cx="91440" cy="9144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20" name="Text 18"/>
          <p:cNvSpPr/>
          <p:nvPr/>
        </p:nvSpPr>
        <p:spPr>
          <a:xfrm>
            <a:off x="822960" y="4480560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44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shared notebook covers cleaning, EDA, and all three models — required by the project's submission format.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48640" y="5129784"/>
            <a:ext cx="91440" cy="9144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22" name="Text 20"/>
          <p:cNvSpPr/>
          <p:nvPr/>
        </p:nvSpPr>
        <p:spPr>
          <a:xfrm>
            <a:off x="822960" y="5074920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44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model reuses the same 80/20 train/test split (random_state=42) for a fair comparison.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548640" y="5724144"/>
            <a:ext cx="91440" cy="9144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24" name="Text 22"/>
          <p:cNvSpPr/>
          <p:nvPr/>
        </p:nvSpPr>
        <p:spPr>
          <a:xfrm>
            <a:off x="822960" y="5669280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44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saved model is a full scikit-learn Pipeline (preprocessing + model together) — no manual preprocessing needed at inference time.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·  DATA CLEANING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73152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200"/>
              </a:lnSpc>
              <a:buNone/>
            </a:pPr>
            <a:r>
              <a:rPr lang="en-US" sz="28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full cleaning checklist,</a:t>
            </a:r>
            <a:endParaRPr lang="en-US" sz="2800" dirty="0"/>
          </a:p>
          <a:p>
            <a:pPr indent="0" marL="0">
              <a:lnSpc>
                <a:spcPts val="3200"/>
              </a:lnSpc>
              <a:buNone/>
            </a:pPr>
            <a:r>
              <a:rPr lang="en-US" sz="28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 a shortcut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2331720"/>
            <a:ext cx="5257800" cy="1188720"/>
          </a:xfrm>
          <a:prstGeom prst="roundRect">
            <a:avLst>
              <a:gd name="adj" fmla="val 7692"/>
            </a:avLst>
          </a:prstGeom>
          <a:solidFill>
            <a:srgbClr val="F7F5FA"/>
          </a:solidFill>
          <a:ln/>
        </p:spPr>
      </p:sp>
      <p:sp>
        <p:nvSpPr>
          <p:cNvPr id="5" name="Shape 3"/>
          <p:cNvSpPr/>
          <p:nvPr/>
        </p:nvSpPr>
        <p:spPr>
          <a:xfrm>
            <a:off x="804672" y="2551176"/>
            <a:ext cx="146304" cy="146304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6" name="Text 4"/>
          <p:cNvSpPr/>
          <p:nvPr/>
        </p:nvSpPr>
        <p:spPr>
          <a:xfrm>
            <a:off x="1097280" y="24688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data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841248" y="2788920"/>
            <a:ext cx="4800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080" dirty="0">
                <a:solidFill>
                  <a:srgbClr val="444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Disguised placeholders detected; median imputation for numeric, "Unknown" category for categorical — never silently dropped</a:t>
            </a:r>
            <a:endParaRPr lang="en-US" sz="1080" dirty="0"/>
          </a:p>
        </p:txBody>
      </p:sp>
      <p:sp>
        <p:nvSpPr>
          <p:cNvPr id="8" name="Shape 6"/>
          <p:cNvSpPr/>
          <p:nvPr/>
        </p:nvSpPr>
        <p:spPr>
          <a:xfrm>
            <a:off x="6126480" y="2331720"/>
            <a:ext cx="5257800" cy="1188720"/>
          </a:xfrm>
          <a:prstGeom prst="roundRect">
            <a:avLst>
              <a:gd name="adj" fmla="val 7692"/>
            </a:avLst>
          </a:prstGeom>
          <a:solidFill>
            <a:srgbClr val="F7F5FA"/>
          </a:solidFill>
          <a:ln/>
        </p:spPr>
      </p:sp>
      <p:sp>
        <p:nvSpPr>
          <p:cNvPr id="9" name="Shape 7"/>
          <p:cNvSpPr/>
          <p:nvPr/>
        </p:nvSpPr>
        <p:spPr>
          <a:xfrm>
            <a:off x="6382512" y="2551176"/>
            <a:ext cx="146304" cy="146304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0" name="Text 8"/>
          <p:cNvSpPr/>
          <p:nvPr/>
        </p:nvSpPr>
        <p:spPr>
          <a:xfrm>
            <a:off x="6675120" y="24688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Duplicates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6419088" y="2788920"/>
            <a:ext cx="4800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080" dirty="0">
                <a:solidFill>
                  <a:srgbClr val="444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Checked exact rows and Delivery IDs — none found</a:t>
            </a:r>
            <a:endParaRPr lang="en-US" sz="1080" dirty="0"/>
          </a:p>
        </p:txBody>
      </p:sp>
      <p:sp>
        <p:nvSpPr>
          <p:cNvPr id="12" name="Shape 10"/>
          <p:cNvSpPr/>
          <p:nvPr/>
        </p:nvSpPr>
        <p:spPr>
          <a:xfrm>
            <a:off x="548640" y="3703320"/>
            <a:ext cx="5257800" cy="1188720"/>
          </a:xfrm>
          <a:prstGeom prst="roundRect">
            <a:avLst>
              <a:gd name="adj" fmla="val 7692"/>
            </a:avLst>
          </a:prstGeom>
          <a:solidFill>
            <a:srgbClr val="F7F5FA"/>
          </a:solidFill>
          <a:ln/>
        </p:spPr>
      </p:sp>
      <p:sp>
        <p:nvSpPr>
          <p:cNvPr id="13" name="Shape 11"/>
          <p:cNvSpPr/>
          <p:nvPr/>
        </p:nvSpPr>
        <p:spPr>
          <a:xfrm>
            <a:off x="804672" y="3922776"/>
            <a:ext cx="146304" cy="146304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4" name="Text 12"/>
          <p:cNvSpPr/>
          <p:nvPr/>
        </p:nvSpPr>
        <p:spPr>
          <a:xfrm>
            <a:off x="1097280" y="38404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Consistency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841248" y="4160520"/>
            <a:ext cx="4800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080" dirty="0">
                <a:solidFill>
                  <a:srgbClr val="444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Standardized casing, trimmed whitespace, fixed date/time formats</a:t>
            </a:r>
            <a:endParaRPr lang="en-US" sz="1080" dirty="0"/>
          </a:p>
        </p:txBody>
      </p:sp>
      <p:sp>
        <p:nvSpPr>
          <p:cNvPr id="16" name="Shape 14"/>
          <p:cNvSpPr/>
          <p:nvPr/>
        </p:nvSpPr>
        <p:spPr>
          <a:xfrm>
            <a:off x="6126480" y="3703320"/>
            <a:ext cx="5257800" cy="1188720"/>
          </a:xfrm>
          <a:prstGeom prst="roundRect">
            <a:avLst>
              <a:gd name="adj" fmla="val 7692"/>
            </a:avLst>
          </a:prstGeom>
          <a:solidFill>
            <a:srgbClr val="F7F5FA"/>
          </a:solidFill>
          <a:ln/>
        </p:spPr>
      </p:sp>
      <p:sp>
        <p:nvSpPr>
          <p:cNvPr id="17" name="Shape 15"/>
          <p:cNvSpPr/>
          <p:nvPr/>
        </p:nvSpPr>
        <p:spPr>
          <a:xfrm>
            <a:off x="6382512" y="3922776"/>
            <a:ext cx="146304" cy="146304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8" name="Text 16"/>
          <p:cNvSpPr/>
          <p:nvPr/>
        </p:nvSpPr>
        <p:spPr>
          <a:xfrm>
            <a:off x="6675120" y="38404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Validity &amp; range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6419088" y="4160520"/>
            <a:ext cx="4800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080" dirty="0">
                <a:solidFill>
                  <a:srgbClr val="444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 restricted to 18–50, ratings to 1–5, invalid geo-coordinates corrected</a:t>
            </a:r>
            <a:endParaRPr lang="en-US" sz="1080" dirty="0"/>
          </a:p>
        </p:txBody>
      </p:sp>
      <p:sp>
        <p:nvSpPr>
          <p:cNvPr id="20" name="Shape 18"/>
          <p:cNvSpPr/>
          <p:nvPr/>
        </p:nvSpPr>
        <p:spPr>
          <a:xfrm>
            <a:off x="548640" y="5074920"/>
            <a:ext cx="5257800" cy="1188720"/>
          </a:xfrm>
          <a:prstGeom prst="roundRect">
            <a:avLst>
              <a:gd name="adj" fmla="val 7692"/>
            </a:avLst>
          </a:prstGeom>
          <a:solidFill>
            <a:srgbClr val="F7F5FA"/>
          </a:solidFill>
          <a:ln/>
        </p:spPr>
      </p:sp>
      <p:sp>
        <p:nvSpPr>
          <p:cNvPr id="21" name="Shape 19"/>
          <p:cNvSpPr/>
          <p:nvPr/>
        </p:nvSpPr>
        <p:spPr>
          <a:xfrm>
            <a:off x="804672" y="5294376"/>
            <a:ext cx="146304" cy="146304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22" name="Text 20"/>
          <p:cNvSpPr/>
          <p:nvPr/>
        </p:nvSpPr>
        <p:spPr>
          <a:xfrm>
            <a:off x="1097280" y="52120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Outliers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841248" y="5532120"/>
            <a:ext cx="4800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080" dirty="0">
                <a:solidFill>
                  <a:srgbClr val="444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IQR-based: predictors capped, target (Time_taken) rows removed to protect ground truth</a:t>
            </a:r>
            <a:endParaRPr lang="en-US" sz="1080" dirty="0"/>
          </a:p>
        </p:txBody>
      </p:sp>
      <p:sp>
        <p:nvSpPr>
          <p:cNvPr id="24" name="Shape 22"/>
          <p:cNvSpPr/>
          <p:nvPr/>
        </p:nvSpPr>
        <p:spPr>
          <a:xfrm>
            <a:off x="6126480" y="5074920"/>
            <a:ext cx="5257800" cy="1188720"/>
          </a:xfrm>
          <a:prstGeom prst="roundRect">
            <a:avLst>
              <a:gd name="adj" fmla="val 7692"/>
            </a:avLst>
          </a:prstGeom>
          <a:solidFill>
            <a:srgbClr val="F7F5FA"/>
          </a:solidFill>
          <a:ln/>
        </p:spPr>
      </p:sp>
      <p:sp>
        <p:nvSpPr>
          <p:cNvPr id="25" name="Shape 23"/>
          <p:cNvSpPr/>
          <p:nvPr/>
        </p:nvSpPr>
        <p:spPr>
          <a:xfrm>
            <a:off x="6382512" y="5294376"/>
            <a:ext cx="146304" cy="146304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26" name="Text 24"/>
          <p:cNvSpPr/>
          <p:nvPr/>
        </p:nvSpPr>
        <p:spPr>
          <a:xfrm>
            <a:off x="6675120" y="52120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validation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6419088" y="5532120"/>
            <a:ext cx="4800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080" dirty="0">
                <a:solidFill>
                  <a:srgbClr val="444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Re-checked stats, row counts, and a raw-vs-cleaned spot check</a:t>
            </a:r>
            <a:endParaRPr lang="en-US" sz="1080" dirty="0"/>
          </a:p>
        </p:txBody>
      </p:sp>
      <p:sp>
        <p:nvSpPr>
          <p:cNvPr id="28" name="Text 26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·  FEATURE ENGINEERING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8229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200"/>
              </a:lnSpc>
              <a:buNone/>
            </a:pPr>
            <a:r>
              <a:rPr lang="en-US" sz="28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Six new features that</a:t>
            </a:r>
            <a:endParaRPr lang="en-US" sz="2800" dirty="0"/>
          </a:p>
          <a:p>
            <a:pPr indent="0" marL="0">
              <a:lnSpc>
                <a:spcPts val="3200"/>
              </a:lnSpc>
              <a:buNone/>
            </a:pPr>
            <a:r>
              <a:rPr lang="en-US" sz="28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give models real signal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2331720"/>
            <a:ext cx="5257800" cy="1371600"/>
          </a:xfrm>
          <a:prstGeom prst="roundRect">
            <a:avLst>
              <a:gd name="adj" fmla="val 6667"/>
            </a:avLst>
          </a:prstGeom>
          <a:solidFill>
            <a:srgbClr val="2F3C7E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2496312"/>
            <a:ext cx="4709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9E79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distance_km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22960" y="2898648"/>
            <a:ext cx="4709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50"/>
              </a:lnSpc>
              <a:buNone/>
            </a:pPr>
            <a:r>
              <a:rPr lang="en-US" sz="1150" dirty="0">
                <a:solidFill>
                  <a:srgbClr val="E4E1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Haversine distance between restaurant and drop-off coordinates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6126480" y="2331720"/>
            <a:ext cx="5257800" cy="1371600"/>
          </a:xfrm>
          <a:prstGeom prst="roundRect">
            <a:avLst>
              <a:gd name="adj" fmla="val 6667"/>
            </a:avLst>
          </a:prstGeom>
          <a:solidFill>
            <a:srgbClr val="2F3C7E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0" y="2496312"/>
            <a:ext cx="4709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9E79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order_hour / is_rush_hour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800" y="2898648"/>
            <a:ext cx="4709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50"/>
              </a:lnSpc>
              <a:buNone/>
            </a:pPr>
            <a:r>
              <a:rPr lang="en-US" sz="1150" dirty="0">
                <a:solidFill>
                  <a:srgbClr val="E4E1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Extracted from order time; flags lunch &amp; dinner peak windows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48640" y="3931920"/>
            <a:ext cx="5257800" cy="1371600"/>
          </a:xfrm>
          <a:prstGeom prst="roundRect">
            <a:avLst>
              <a:gd name="adj" fmla="val 6667"/>
            </a:avLst>
          </a:prstGeom>
          <a:solidFill>
            <a:srgbClr val="2F3C7E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4096512"/>
            <a:ext cx="4709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9E79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order_dayofweek / is_weekend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22960" y="4498848"/>
            <a:ext cx="4709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50"/>
              </a:lnSpc>
              <a:buNone/>
            </a:pPr>
            <a:r>
              <a:rPr lang="en-US" sz="1150" dirty="0">
                <a:solidFill>
                  <a:srgbClr val="E4E1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Captures weekly demand patterns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126480" y="3931920"/>
            <a:ext cx="5257800" cy="1371600"/>
          </a:xfrm>
          <a:prstGeom prst="roundRect">
            <a:avLst>
              <a:gd name="adj" fmla="val 6667"/>
            </a:avLst>
          </a:prstGeom>
          <a:solidFill>
            <a:srgbClr val="2F3C7E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0" y="4096512"/>
            <a:ext cx="4709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9E79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prep_time_minutes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400800" y="4498848"/>
            <a:ext cx="4709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50"/>
              </a:lnSpc>
              <a:buNone/>
            </a:pPr>
            <a:r>
              <a:rPr lang="en-US" sz="1150" dirty="0">
                <a:solidFill>
                  <a:srgbClr val="E4E1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 between order placed and pickup — restaurant-side delay, separate from road conditions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548640" y="562356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engineered features are shared across every model, ensuring the 3-way comparison is apples-to-apples.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·  MACHINE LEARNING &amp; MODEL EVALUATION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models, increasing complexity</a:t>
            </a:r>
            <a:endParaRPr lang="en-US" sz="28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737360"/>
          <a:ext cx="521208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126480" y="1920240"/>
          <a:ext cx="5486400" cy="1645920"/>
        </p:xfrm>
        <a:graphic>
          <a:graphicData uri="http://schemas.openxmlformats.org/drawingml/2006/table">
            <a:tbl>
              <a:tblPr/>
              <a:tblGrid>
                <a:gridCol w="2011680"/>
                <a:gridCol w="1161288"/>
                <a:gridCol w="1161288"/>
                <a:gridCol w="1152144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3C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3C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RMSE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3C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R²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3C7E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Linear Regression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4.771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6.001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0.583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Decision Tree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3.378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4.333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0.782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9616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Random Forest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9616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3.219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9616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4.080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9616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0.807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2"/>
          <p:cNvSpPr/>
          <p:nvPr/>
        </p:nvSpPr>
        <p:spPr>
          <a:xfrm>
            <a:off x="6126480" y="37490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wins on every metric — lowest error, highest R².</a:t>
            </a:r>
            <a:endParaRPr lang="en-US" sz="1300" dirty="0"/>
          </a:p>
        </p:txBody>
      </p:sp>
      <p:sp>
        <p:nvSpPr>
          <p:cNvPr id="7" name="Text 3"/>
          <p:cNvSpPr/>
          <p:nvPr/>
        </p:nvSpPr>
        <p:spPr>
          <a:xfrm>
            <a:off x="6126480" y="4206240"/>
            <a:ext cx="5486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444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Progression tells the story: a linear model can't capture non-linear traffic/weather interactions the way tree ensembles can — this is exactly why three techniques were compared, not one.</a:t>
            </a:r>
            <a:endParaRPr lang="en-US" sz="1200" dirty="0"/>
          </a:p>
        </p:txBody>
      </p:sp>
      <p:sp>
        <p:nvSpPr>
          <p:cNvPr id="8" name="Text 4"/>
          <p:cNvSpPr/>
          <p:nvPr/>
        </p:nvSpPr>
        <p:spPr>
          <a:xfrm>
            <a:off x="548640" y="53492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Streamlit app</a:t>
            </a:r>
            <a:endParaRPr lang="en-US" sz="1600" dirty="0"/>
          </a:p>
        </p:txBody>
      </p:sp>
      <p:sp>
        <p:nvSpPr>
          <p:cNvPr id="9" name="Text 5"/>
          <p:cNvSpPr/>
          <p:nvPr/>
        </p:nvSpPr>
        <p:spPr>
          <a:xfrm>
            <a:off x="548640" y="5760720"/>
            <a:ext cx="5394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444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live app takes order conditions (distance, weather, traffic, prep time…) and returns a predicted delivery time in real time — built on the same saved Random Forest pipeline. Demo now →</a:t>
            </a:r>
            <a:endParaRPr lang="en-US" sz="1200" dirty="0"/>
          </a:p>
        </p:txBody>
      </p:sp>
      <p:sp>
        <p:nvSpPr>
          <p:cNvPr id="10" name="Text 6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B15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·  STREAMLIT APP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model to product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6400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CFC9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live, interactive predictor — anyone can enter order conditions and get an instant delivery-time estimate.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2377440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F96167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23774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🛵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280160" y="2423160"/>
            <a:ext cx="5577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Sliders for age, rating, distance, and prep time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3246120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F96167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32461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🌦️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280160" y="3291840"/>
            <a:ext cx="5577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Dropdowns for weather, traffic, vehicle, festival, city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4114800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F96167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41148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⚙️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1280160" y="4160520"/>
            <a:ext cx="5577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Automatically derives order_hour, is_rush_hour, day-of-week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48640" y="4983480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F96167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49834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📦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1280160" y="5029200"/>
            <a:ext cx="5577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preprocessing pipeline as training — no mismatch risk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452360" y="1691640"/>
            <a:ext cx="4160520" cy="4480560"/>
          </a:xfrm>
          <a:prstGeom prst="roundRect">
            <a:avLst>
              <a:gd name="adj" fmla="val 2637"/>
            </a:avLst>
          </a:prstGeom>
          <a:solidFill>
            <a:srgbClr val="251E3E"/>
          </a:solidFill>
          <a:ln w="12700">
            <a:solidFill>
              <a:srgbClr val="3D356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26680" y="19202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🛵 Food Delivery Time Predictor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7726680" y="246888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9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Estimated delivery time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7726680" y="2743200"/>
            <a:ext cx="3566160" cy="914400"/>
          </a:xfrm>
          <a:prstGeom prst="roundRect">
            <a:avLst>
              <a:gd name="adj" fmla="val 10000"/>
            </a:avLst>
          </a:prstGeom>
          <a:solidFill>
            <a:srgbClr val="20351F"/>
          </a:solidFill>
          <a:ln/>
        </p:spPr>
      </p:sp>
      <p:sp>
        <p:nvSpPr>
          <p:cNvPr id="21" name="Text 19"/>
          <p:cNvSpPr/>
          <p:nvPr/>
        </p:nvSpPr>
        <p:spPr>
          <a:xfrm>
            <a:off x="7726680" y="2743200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7CD6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18.6 minutes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7726680" y="388620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FC9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Distance: 8.0 km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7726680" y="4270248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FC9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Traffic: Low  ·  Weather: Sunny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7726680" y="4654296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FC9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rush hour  ·  Urban city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7726680" y="5212080"/>
            <a:ext cx="3566160" cy="502920"/>
          </a:xfrm>
          <a:prstGeom prst="roundRect">
            <a:avLst>
              <a:gd name="adj" fmla="val 14545"/>
            </a:avLst>
          </a:prstGeom>
          <a:solidFill>
            <a:srgbClr val="F96167"/>
          </a:solidFill>
          <a:ln/>
        </p:spPr>
      </p:sp>
      <p:sp>
        <p:nvSpPr>
          <p:cNvPr id="26" name="Text 24"/>
          <p:cNvSpPr/>
          <p:nvPr/>
        </p:nvSpPr>
        <p:spPr>
          <a:xfrm>
            <a:off x="7726680" y="521208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delivery time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7452360" y="6263640"/>
            <a:ext cx="3977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A9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 — try it yourself:</a:t>
            </a:r>
            <a:endParaRPr lang="en-US" sz="1000" dirty="0"/>
          </a:p>
        </p:txBody>
      </p:sp>
      <p:sp>
        <p:nvSpPr>
          <p:cNvPr id="28" name="Text 26">
            <a:hlinkClick r:id="rId1" tooltip=""/>
          </p:cNvPr>
          <p:cNvSpPr/>
          <p:nvPr/>
        </p:nvSpPr>
        <p:spPr>
          <a:xfrm>
            <a:off x="7452360" y="6510528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u="sng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...streamlit.app/  (zomato-food-delivery-time-prediction-project)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9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 ·  DASHBOARD &amp; INFERRED INSIGHTS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4-page interactive dashboard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257800" cy="1463040"/>
          </a:xfrm>
          <a:prstGeom prst="roundRect">
            <a:avLst>
              <a:gd name="adj" fmla="val 6250"/>
            </a:avLst>
          </a:prstGeom>
          <a:solidFill>
            <a:srgbClr val="F7F5FA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856232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D8D2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1600200" y="187452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600200" y="2286000"/>
            <a:ext cx="4023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50"/>
              </a:lnSpc>
              <a:buNone/>
            </a:pPr>
            <a:r>
              <a:rPr lang="en-US" sz="1150" dirty="0">
                <a:solidFill>
                  <a:srgbClr val="444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cards, delivery-time trend, and 5 slicers for live filtering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126480" y="1691640"/>
            <a:ext cx="5257800" cy="1463040"/>
          </a:xfrm>
          <a:prstGeom prst="roundRect">
            <a:avLst>
              <a:gd name="adj" fmla="val 6250"/>
            </a:avLst>
          </a:prstGeom>
          <a:solidFill>
            <a:srgbClr val="F7F5FA"/>
          </a:solidFill>
          <a:ln/>
        </p:spPr>
      </p:sp>
      <p:sp>
        <p:nvSpPr>
          <p:cNvPr id="9" name="Text 7"/>
          <p:cNvSpPr/>
          <p:nvPr/>
        </p:nvSpPr>
        <p:spPr>
          <a:xfrm>
            <a:off x="6355080" y="1856232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D8D2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7178040" y="187452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impact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7178040" y="2286000"/>
            <a:ext cx="4023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50"/>
              </a:lnSpc>
              <a:buNone/>
            </a:pPr>
            <a:r>
              <a:rPr lang="en-US" sz="1150" dirty="0">
                <a:solidFill>
                  <a:srgbClr val="444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Avg. delivery time by weather, traffic, vehicle condition, festival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48640" y="3383280"/>
            <a:ext cx="5257800" cy="1463040"/>
          </a:xfrm>
          <a:prstGeom prst="roundRect">
            <a:avLst>
              <a:gd name="adj" fmla="val 6250"/>
            </a:avLst>
          </a:prstGeom>
          <a:solidFill>
            <a:srgbClr val="F7F5FA"/>
          </a:solidFill>
          <a:ln/>
        </p:spPr>
      </p:sp>
      <p:sp>
        <p:nvSpPr>
          <p:cNvPr id="13" name="Text 11"/>
          <p:cNvSpPr/>
          <p:nvPr/>
        </p:nvSpPr>
        <p:spPr>
          <a:xfrm>
            <a:off x="777240" y="3547872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D8D2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1600200" y="356616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Relationships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600200" y="3977640"/>
            <a:ext cx="4023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50"/>
              </a:lnSpc>
              <a:buNone/>
            </a:pPr>
            <a:r>
              <a:rPr lang="en-US" sz="1150" dirty="0">
                <a:solidFill>
                  <a:srgbClr val="444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Age, rating, and prep-time scatter plots vs. delivery time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126480" y="3383280"/>
            <a:ext cx="5257800" cy="1463040"/>
          </a:xfrm>
          <a:prstGeom prst="roundRect">
            <a:avLst>
              <a:gd name="adj" fmla="val 6250"/>
            </a:avLst>
          </a:prstGeom>
          <a:solidFill>
            <a:srgbClr val="F7F5FA"/>
          </a:solidFill>
          <a:ln/>
        </p:spPr>
      </p:sp>
      <p:sp>
        <p:nvSpPr>
          <p:cNvPr id="17" name="Text 15"/>
          <p:cNvSpPr/>
          <p:nvPr/>
        </p:nvSpPr>
        <p:spPr>
          <a:xfrm>
            <a:off x="6355080" y="3547872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D8D2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7178040" y="356616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Geographic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7178040" y="3977640"/>
            <a:ext cx="4023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50"/>
              </a:lnSpc>
              <a:buNone/>
            </a:pPr>
            <a:r>
              <a:rPr lang="en-US" sz="1150" dirty="0">
                <a:solidFill>
                  <a:srgbClr val="444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City-level map with rating, time, and order volume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48640" y="5166360"/>
            <a:ext cx="10744200" cy="1234440"/>
          </a:xfrm>
          <a:prstGeom prst="roundRect">
            <a:avLst>
              <a:gd name="adj" fmla="val 7407"/>
            </a:avLst>
          </a:prstGeom>
          <a:solidFill>
            <a:srgbClr val="2F3C7E"/>
          </a:solidFill>
          <a:ln/>
        </p:spPr>
      </p:sp>
      <p:sp>
        <p:nvSpPr>
          <p:cNvPr id="21" name="Text 19"/>
          <p:cNvSpPr/>
          <p:nvPr/>
        </p:nvSpPr>
        <p:spPr>
          <a:xfrm>
            <a:off x="914400" y="53492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914400" y="5669280"/>
            <a:ext cx="10058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Traffic density, festival days, and distance are the strongest drivers of delivery time — directly matching the top features from the Random Forest model.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B15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103120" y="-2103120"/>
            <a:ext cx="3657600" cy="3657600"/>
          </a:xfrm>
          <a:prstGeom prst="ellipse">
            <a:avLst/>
          </a:prstGeom>
          <a:solidFill>
            <a:srgbClr val="2F3C7E">
              <a:alpha val="7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 ·  CONCLUSION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73152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4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Random Forest is our</a:t>
            </a:r>
            <a:endParaRPr lang="en-US" sz="3000" dirty="0"/>
          </a:p>
          <a:p>
            <a:pPr indent="0" marL="0">
              <a:lnSpc>
                <a:spcPts val="34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recommended model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2523744"/>
            <a:ext cx="128016" cy="128016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246888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4E1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 0.807, MAE 3.22 min — best across every metric, on an identical test set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3118104"/>
            <a:ext cx="128016" cy="128016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8" name="Text 6"/>
          <p:cNvSpPr/>
          <p:nvPr/>
        </p:nvSpPr>
        <p:spPr>
          <a:xfrm>
            <a:off x="868680" y="306324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4E1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Traffic, festivals, and distance are the biggest drivers of delivery time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48640" y="3712464"/>
            <a:ext cx="128016" cy="128016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0" name="Text 8"/>
          <p:cNvSpPr/>
          <p:nvPr/>
        </p:nvSpPr>
        <p:spPr>
          <a:xfrm>
            <a:off x="868680" y="365760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4E1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Deployed as a live Streamlit app for real-time predictions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548640" y="45262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9E79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Limitations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48640" y="493776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i="1" dirty="0">
                <a:solidFill>
                  <a:srgbClr val="9A9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 time is only known after pickup, not at order placement — the model assumes prediction happens post-pickup. Imputation was computed before the train/test split, a mild leakage risk acknowledged in the report.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48640" y="598932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9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2026-09-19T00:29:35Z</dcterms:created>
  <dcterms:modified xsi:type="dcterms:W3CDTF">2026-09-19T00:29:35Z</dcterms:modified>
</cp:coreProperties>
</file>